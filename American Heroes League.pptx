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0747"/>
            <a:ext cx="7858125" cy="270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7250" b="1" i="1" spc="-2" kern="0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AMERICAN</a:t>
            </a:r>
            <a:r>
              <a:rPr lang="en-US" sz="7250" b="1" i="1" spc="-2" kern="0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7250" b="1" i="1" spc="-2" kern="0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HEROES</a:t>
            </a:r>
            <a:r>
              <a:rPr lang="en-US" sz="7250" b="1" i="1" spc="-2" kern="0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7250" b="1" i="1" spc="-2" kern="0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LEAGUE</a:t>
            </a:r>
            <a:endParaRPr lang="en-US" sz="7250" dirty="0"/>
          </a:p>
        </p:txBody>
      </p:sp>
      <p:sp>
        <p:nvSpPr>
          <p:cNvPr id="4" name="Text 1"/>
          <p:cNvSpPr/>
          <p:nvPr/>
        </p:nvSpPr>
        <p:spPr>
          <a:xfrm>
            <a:off x="971550" y="3389709"/>
            <a:ext cx="47434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ADULT ANIMATED</a:t>
            </a:r>
            <a:r>
              <a:rPr lang="en-US" sz="245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245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POLITICAL SATIRE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971550" y="4368403"/>
            <a:ext cx="47434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 franchise-ready superhero comedy for the digital political-media era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22244" y="4507706"/>
            <a:ext cx="20502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PITCH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6429375" cy="3664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46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POLITICAL</a:t>
            </a:r>
            <a:r>
              <a:rPr lang="en-US" sz="46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46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SUPERHERO </a:t>
            </a:r>
            <a:r>
              <a:rPr lang="en-US" sz="46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UNIVERSE</a:t>
            </a:r>
            <a:r>
              <a:rPr lang="en-US" sz="46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465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BUILT FOR </a:t>
            </a:r>
            <a:r>
              <a:rPr lang="en-US" sz="465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REPEAT</a:t>
            </a:r>
            <a:r>
              <a:rPr lang="en-US" sz="46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465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VIEWING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14375" y="4236244"/>
            <a:ext cx="2381269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4236244"/>
            <a:ext cx="42863" cy="14287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4379119"/>
            <a:ext cx="2066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5E5E5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 bold adult-animation franchise where contemporary political archetypes become comic-book heroes and villains.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352819" y="4236244"/>
            <a:ext cx="2395556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352819" y="4236244"/>
            <a:ext cx="42863" cy="14287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9" name="Text 6"/>
          <p:cNvSpPr/>
          <p:nvPr/>
        </p:nvSpPr>
        <p:spPr>
          <a:xfrm>
            <a:off x="3509981" y="4379119"/>
            <a:ext cx="2081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5E5E5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High-concept hook: </a:t>
            </a:r>
            <a:r>
              <a:rPr lang="en-US" sz="1000" b="1" dirty="0">
                <a:solidFill>
                  <a:srgbClr val="FCA311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superhero spectacle meets </a:t>
            </a:r>
            <a:r>
              <a:rPr lang="en-US" sz="1000" b="1" dirty="0">
                <a:solidFill>
                  <a:srgbClr val="FCA311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satirical commentary</a:t>
            </a:r>
            <a:r>
              <a:rPr lang="en-US" sz="1000" b="1" dirty="0">
                <a:solidFill>
                  <a:srgbClr val="E5E5E5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19837" y="4236244"/>
            <a:ext cx="2409844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019837" y="4236244"/>
            <a:ext cx="42863" cy="14287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2" name="Text 9"/>
          <p:cNvSpPr/>
          <p:nvPr/>
        </p:nvSpPr>
        <p:spPr>
          <a:xfrm>
            <a:off x="6191287" y="4379119"/>
            <a:ext cx="20955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5E5E5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Season One follows a mismatched “American Heroes League” confronting a bureaucratic supervillain coalition.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7858125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95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GAP: POLITICAL AUDIENCES LACK A SERIALIZED ANIMATED HOME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935831" y="3171825"/>
            <a:ext cx="442198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Political commentary is abundant; </a:t>
            </a:r>
            <a:r>
              <a:rPr lang="en-US" sz="1100" b="1" dirty="0">
                <a:solidFill>
                  <a:srgbClr val="14213D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premium, character-</a:t>
            </a:r>
            <a:r>
              <a:rPr lang="en-US" sz="1100" b="1" dirty="0">
                <a:solidFill>
                  <a:srgbClr val="14213D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led animated IP</a:t>
            </a:r>
            <a:r>
              <a:rPr lang="en-US" sz="1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is scarce.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35831" y="3857625"/>
            <a:ext cx="442198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Short clips travel through feeds, while longer episodes create habit, fandom, and catalog value.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35831" y="4543425"/>
            <a:ext cx="442198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opportunity is not another commentary show—it is an ownable comedy universe with recurring characters and stories.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7858125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CHARACTER ENGINE</a:t>
            </a: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WITH BUILT-IN EPISODE </a:t>
            </a: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VELOCITY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57238" y="2471738"/>
            <a:ext cx="36004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COMMANDER-IN-CHIEF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57238" y="2714625"/>
            <a:ext cx="3600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Oversized confidence, deal-making instincts, giant expressive hands.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72050" y="2471738"/>
            <a:ext cx="36004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FCA31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TECHNO KING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72050" y="2714625"/>
            <a:ext cx="3600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5E5E5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Tech, memes, rockets, and chaos harnessed for the mission.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7238" y="3429000"/>
            <a:ext cx="36004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TEAM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7238" y="3671888"/>
            <a:ext cx="36004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Questioner, The Enforcer, The Maverick, and The Spectral Mentor: distinct powers, competing methods, one team.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72050" y="3429000"/>
            <a:ext cx="36004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FCA31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VILLAINS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72050" y="3671888"/>
            <a:ext cx="3600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5E5E5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Fictionalized archetypes—not factual claims—built for repeatable comic conflict.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7858125" cy="162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75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SEASON ONE IS A CLEAN, EXPANDABLE FRANCHISE LAUNCH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14375" y="2763069"/>
            <a:ext cx="3571875" cy="90011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2763069"/>
            <a:ext cx="42863" cy="90011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6" name="Text 3"/>
          <p:cNvSpPr/>
          <p:nvPr/>
        </p:nvSpPr>
        <p:spPr>
          <a:xfrm>
            <a:off x="892969" y="2870225"/>
            <a:ext cx="3286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Eight 20–22 minute episodes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form the 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“Great Awakening” arc, establishing the 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universe and the core conflict.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857750" y="2763069"/>
            <a:ext cx="3571875" cy="90011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857750" y="2763069"/>
            <a:ext cx="42863" cy="90011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9" name="Text 6"/>
          <p:cNvSpPr/>
          <p:nvPr/>
        </p:nvSpPr>
        <p:spPr>
          <a:xfrm>
            <a:off x="5036344" y="2870225"/>
            <a:ext cx="3286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Pilot: </a:t>
            </a:r>
            <a:r>
              <a:rPr lang="en-US" sz="1000" b="1" dirty="0">
                <a:solidFill>
                  <a:srgbClr val="14213D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“The Assembling”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—a sentient 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bureaucracy attack forces the heroes to unite 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against a common threat.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4375" y="4020369"/>
            <a:ext cx="3571875" cy="112871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14375" y="4020369"/>
            <a:ext cx="42863" cy="112871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2" name="Text 9"/>
          <p:cNvSpPr/>
          <p:nvPr/>
        </p:nvSpPr>
        <p:spPr>
          <a:xfrm>
            <a:off x="892969" y="4127525"/>
            <a:ext cx="3286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Standalone episode engines tackle censorship, border chaos, academic warfare, deepfakes, money, and election-season mayhem.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57750" y="4020369"/>
            <a:ext cx="3571875" cy="90011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857750" y="4020369"/>
            <a:ext cx="42863" cy="90011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/>
          <p:nvPr/>
        </p:nvSpPr>
        <p:spPr>
          <a:xfrm>
            <a:off x="5036344" y="4127525"/>
            <a:ext cx="3286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Season finales resolve one major threat while opening a new mission for the league, ensuring audience retention.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78581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6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FORMAT IS ENGINEERED FOR CLIPS AND COMMUNITY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35831" y="2121694"/>
            <a:ext cx="40219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 22-minute episode yields character intros, punchlines, battle beats, reaction moments, and behind-the-scenes content.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35831" y="3057525"/>
            <a:ext cx="40219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Social-news behavior validates a multi-format strategy: </a:t>
            </a:r>
            <a:r>
              <a:rPr lang="en-US" sz="1000" b="1" dirty="0">
                <a:solidFill>
                  <a:srgbClr val="14213D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53% of U.S. adults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get news on social media at least 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sometimes.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35831" y="3993356"/>
            <a:ext cx="4021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same creative asset can serve long-form viewing, social discovery, memberships, and merchandise.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14975" y="2400300"/>
            <a:ext cx="2743200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350" b="1" i="1" dirty="0">
                <a:solidFill>
                  <a:srgbClr val="FCA31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53%</a:t>
            </a:r>
            <a:endParaRPr lang="en-US" sz="9350" dirty="0"/>
          </a:p>
        </p:txBody>
      </p:sp>
      <p:sp>
        <p:nvSpPr>
          <p:cNvPr id="8" name="Text 5"/>
          <p:cNvSpPr/>
          <p:nvPr/>
        </p:nvSpPr>
        <p:spPr>
          <a:xfrm>
            <a:off x="5648920" y="3757613"/>
            <a:ext cx="24753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OF U.S. ADULTS GET NEWS</a:t>
            </a:r>
            <a:r>
              <a:rPr lang="en-US" sz="12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12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 SOCIAL MEDIA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4375" y="4747022"/>
            <a:ext cx="1525191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4213D">
                    <a:alpha val="70000"/>
                  </a:srgbClr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*Source: Pew Research Center, 2025.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221693"/>
            <a:ext cx="3871913" cy="2700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DISTRIBUTION IS BROAD-REACH PLUS HIGH-INTENT COMMUNITY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043488" y="867966"/>
            <a:ext cx="3671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YOUTUBE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43488" y="1146572"/>
            <a:ext cx="36718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Discovery, trailers, edited full episodes, and a searchable catalog.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43488" y="1746647"/>
            <a:ext cx="3671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X (TWITTER)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43488" y="2025253"/>
            <a:ext cx="36718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Rapid conversation, short clips, audience feedback, and culturally responsive promotion.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43488" y="2625328"/>
            <a:ext cx="3671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RUMBLE &amp; PARTNERS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43488" y="2903934"/>
            <a:ext cx="36718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Full episodes, premieres, and community-forward releases for independent-video audiences.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57750" y="3646884"/>
            <a:ext cx="3857625" cy="62865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Shape 8"/>
          <p:cNvSpPr/>
          <p:nvPr/>
        </p:nvSpPr>
        <p:spPr>
          <a:xfrm>
            <a:off x="4857750" y="3646884"/>
            <a:ext cx="42863" cy="6286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2" name="Text 9"/>
          <p:cNvSpPr/>
          <p:nvPr/>
        </p:nvSpPr>
        <p:spPr>
          <a:xfrm>
            <a:off x="5000625" y="3789759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CA311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35%</a:t>
            </a:r>
            <a:r>
              <a:rPr lang="en-US" sz="8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of U.S. adults regularly get news on YouTube; </a:t>
            </a:r>
            <a:r>
              <a:rPr lang="en-US" sz="800" b="1" dirty="0">
                <a:solidFill>
                  <a:srgbClr val="FCA311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12%</a:t>
            </a:r>
            <a:r>
              <a:rPr lang="en-US" sz="8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do so </a:t>
            </a:r>
            <a:r>
              <a:rPr lang="en-US" sz="8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on X. Rumble reported </a:t>
            </a:r>
            <a:r>
              <a:rPr lang="en-US" sz="800" b="1" dirty="0">
                <a:solidFill>
                  <a:srgbClr val="FCA311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52M</a:t>
            </a:r>
            <a:r>
              <a:rPr lang="en-US" sz="8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average global MAUs in Q4 2025.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785812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MONETIZATION </a:t>
            </a: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COMPOUNDS</a:t>
            </a: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BEYOND A SINGLE </a:t>
            </a: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PREMIERE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3786188" y="3057525"/>
            <a:ext cx="4643438" cy="71437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Shape 2"/>
          <p:cNvSpPr/>
          <p:nvPr/>
        </p:nvSpPr>
        <p:spPr>
          <a:xfrm>
            <a:off x="3786188" y="3057525"/>
            <a:ext cx="42863" cy="714375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6" name="Text 3"/>
          <p:cNvSpPr/>
          <p:nvPr/>
        </p:nvSpPr>
        <p:spPr>
          <a:xfrm>
            <a:off x="3964781" y="3200400"/>
            <a:ext cx="4286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Platform licensing or co-production, followed by advertising and sponsorship aligned with the audience.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786188" y="3950494"/>
            <a:ext cx="4643438" cy="71437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Shape 5"/>
          <p:cNvSpPr/>
          <p:nvPr/>
        </p:nvSpPr>
        <p:spPr>
          <a:xfrm>
            <a:off x="3786188" y="3950494"/>
            <a:ext cx="42863" cy="714375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9" name="Text 6"/>
          <p:cNvSpPr/>
          <p:nvPr/>
        </p:nvSpPr>
        <p:spPr>
          <a:xfrm>
            <a:off x="3964781" y="4093369"/>
            <a:ext cx="4286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Memberships, early-access cuts, digital extras, and live premiere events deepen audience value.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786188" y="4843463"/>
            <a:ext cx="4643438" cy="71437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Shape 8"/>
          <p:cNvSpPr/>
          <p:nvPr/>
        </p:nvSpPr>
        <p:spPr>
          <a:xfrm>
            <a:off x="3786188" y="4843463"/>
            <a:ext cx="42863" cy="714375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2" name="Text 9"/>
          <p:cNvSpPr/>
          <p:nvPr/>
        </p:nvSpPr>
        <p:spPr>
          <a:xfrm>
            <a:off x="3964781" y="4986338"/>
            <a:ext cx="4286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Character catchphrases and silhouettes support merchandise, licensing, collectibles, and seasonal specials.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86188" y="5736431"/>
            <a:ext cx="4643438" cy="714375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4" name="Shape 11"/>
          <p:cNvSpPr/>
          <p:nvPr/>
        </p:nvSpPr>
        <p:spPr>
          <a:xfrm>
            <a:off x="3786188" y="5736431"/>
            <a:ext cx="42863" cy="714375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/>
          <p:nvPr/>
        </p:nvSpPr>
        <p:spPr>
          <a:xfrm>
            <a:off x="3964781" y="5879306"/>
            <a:ext cx="4286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goal is a </a:t>
            </a:r>
            <a:r>
              <a:rPr lang="en-US" sz="1000" b="1" dirty="0">
                <a:solidFill>
                  <a:srgbClr val="14213D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durable IP flywheel</a:t>
            </a:r>
            <a:r>
              <a:rPr lang="en-US" sz="10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, not one viral political </a:t>
            </a:r>
            <a:r>
              <a:rPr lang="en-US" sz="10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clip.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785812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TRANSPARENT PARODY FRAMEWORK PROTECTS THE BRAND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14375" y="2508852"/>
            <a:ext cx="3643313" cy="97155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2508852"/>
            <a:ext cx="42863" cy="9715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6" name="Text 3"/>
          <p:cNvSpPr/>
          <p:nvPr/>
        </p:nvSpPr>
        <p:spPr>
          <a:xfrm>
            <a:off x="892969" y="2651727"/>
            <a:ext cx="3321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Clearly </a:t>
            </a:r>
            <a:r>
              <a:rPr lang="en-US" sz="1000" b="1" dirty="0">
                <a:solidFill>
                  <a:srgbClr val="14213D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fictional adult satire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, not news, 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documentary, campaign content, or </a:t>
            </a: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endorsement.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86313" y="2508852"/>
            <a:ext cx="3643313" cy="97155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786313" y="2508852"/>
            <a:ext cx="42863" cy="9715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9" name="Text 6"/>
          <p:cNvSpPr/>
          <p:nvPr/>
        </p:nvSpPr>
        <p:spPr>
          <a:xfrm>
            <a:off x="4964906" y="2651727"/>
            <a:ext cx="3321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Original channel identity, non-imitative voices, AI disclosure, and editorial review are built into the workflow.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4375" y="3766152"/>
            <a:ext cx="3643313" cy="97155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14375" y="3766152"/>
            <a:ext cx="42863" cy="9715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2" name="Text 9"/>
          <p:cNvSpPr/>
          <p:nvPr/>
        </p:nvSpPr>
        <p:spPr>
          <a:xfrm>
            <a:off x="892969" y="3909027"/>
            <a:ext cx="3321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YouTube requires disclosure for certain realistic AI-altered content and prohibits misleading impersonation. [3] [4]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86313" y="3766152"/>
            <a:ext cx="3643313" cy="97155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786313" y="3766152"/>
            <a:ext cx="42863" cy="9715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/>
          <p:nvPr/>
        </p:nvSpPr>
        <p:spPr>
          <a:xfrm>
            <a:off x="4964906" y="3909027"/>
            <a:ext cx="3321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This clarity enables provocative comedy without confusing the audience about what is real.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4375" y="4818459"/>
            <a:ext cx="193238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4213D">
                    <a:alpha val="70000"/>
                  </a:srgbClr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*Sources: YouTube Help, current policy pages.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1670"/>
            <a:ext cx="3457575" cy="37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75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PRODUCTION PROVES QUALITY BEFORE SEASON ONE SCALES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4300538" y="617934"/>
            <a:ext cx="4414838" cy="8429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Shape 2"/>
          <p:cNvSpPr/>
          <p:nvPr/>
        </p:nvSpPr>
        <p:spPr>
          <a:xfrm>
            <a:off x="4300538" y="617934"/>
            <a:ext cx="42863" cy="842963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6" name="Text 3"/>
          <p:cNvSpPr/>
          <p:nvPr/>
        </p:nvSpPr>
        <p:spPr>
          <a:xfrm>
            <a:off x="4443413" y="725091"/>
            <a:ext cx="41290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PROOF OF CONCEPT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43413" y="967978"/>
            <a:ext cx="41290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75–90 seconds to lock visual style, character continuity, and audience response.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00538" y="1639491"/>
            <a:ext cx="4414838" cy="8429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" name="Shape 6"/>
          <p:cNvSpPr/>
          <p:nvPr/>
        </p:nvSpPr>
        <p:spPr>
          <a:xfrm>
            <a:off x="4300538" y="1639491"/>
            <a:ext cx="42863" cy="842963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4443413" y="1746647"/>
            <a:ext cx="41290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PILOT PACKAGE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43413" y="1989534"/>
            <a:ext cx="41290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Animatic, voice direction, legal/rights review, channel kit, and trailer.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00538" y="2661047"/>
            <a:ext cx="4414838" cy="8429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Shape 10"/>
          <p:cNvSpPr/>
          <p:nvPr/>
        </p:nvSpPr>
        <p:spPr>
          <a:xfrm>
            <a:off x="4300538" y="2661047"/>
            <a:ext cx="42863" cy="842963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4" name="Text 11"/>
          <p:cNvSpPr/>
          <p:nvPr/>
        </p:nvSpPr>
        <p:spPr>
          <a:xfrm>
            <a:off x="4443413" y="2768203"/>
            <a:ext cx="41290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DECISION GATE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43413" y="3011091"/>
            <a:ext cx="41290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Release pilot, read completion and conversion data, then commit to Season One.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00538" y="3682603"/>
            <a:ext cx="4414838" cy="842963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7" name="Shape 14"/>
          <p:cNvSpPr/>
          <p:nvPr/>
        </p:nvSpPr>
        <p:spPr>
          <a:xfrm>
            <a:off x="4300538" y="3682603"/>
            <a:ext cx="42863" cy="84296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8" name="Text 15"/>
          <p:cNvSpPr/>
          <p:nvPr/>
        </p:nvSpPr>
        <p:spPr>
          <a:xfrm>
            <a:off x="4443413" y="3789759"/>
            <a:ext cx="41290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FCA31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AI-ASSISTED DEVELOPMENT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443413" y="4032647"/>
            <a:ext cx="41290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Accelerates iteration; writing, editorial, voice, rights, and quality control remain human-led.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57250"/>
            <a:ext cx="3143250" cy="336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ASK: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BUILD THE 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PROOF,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VALIDATE 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DEMAND,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GREENLIGHT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3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PILOT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3857625" y="714375"/>
            <a:ext cx="2214563" cy="1571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Shape 2"/>
          <p:cNvSpPr/>
          <p:nvPr/>
        </p:nvSpPr>
        <p:spPr>
          <a:xfrm>
            <a:off x="3857625" y="714375"/>
            <a:ext cx="42863" cy="1571625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6" name="Text 3"/>
          <p:cNvSpPr/>
          <p:nvPr/>
        </p:nvSpPr>
        <p:spPr>
          <a:xfrm>
            <a:off x="4000500" y="892969"/>
            <a:ext cx="19288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FOR INVESTORS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00500" y="1193006"/>
            <a:ext cx="19288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Development capital for the proof, pilot package, rights review, and launch test.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57938" y="714375"/>
            <a:ext cx="2214563" cy="1571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" name="Shape 6"/>
          <p:cNvSpPr/>
          <p:nvPr/>
        </p:nvSpPr>
        <p:spPr>
          <a:xfrm>
            <a:off x="6357938" y="714375"/>
            <a:ext cx="42863" cy="1571625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0" name="Text 7"/>
          <p:cNvSpPr/>
          <p:nvPr/>
        </p:nvSpPr>
        <p:spPr>
          <a:xfrm>
            <a:off x="6500813" y="892969"/>
            <a:ext cx="19288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FOR PLATFORMS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00813" y="1193006"/>
            <a:ext cx="1928813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 development option, first-look relationship, co-production, or distribution partnership.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57625" y="2571750"/>
            <a:ext cx="2214563" cy="1571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Shape 10"/>
          <p:cNvSpPr/>
          <p:nvPr/>
        </p:nvSpPr>
        <p:spPr>
          <a:xfrm>
            <a:off x="3857625" y="2571750"/>
            <a:ext cx="42863" cy="1571625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4" name="Text 11"/>
          <p:cNvSpPr/>
          <p:nvPr/>
        </p:nvSpPr>
        <p:spPr>
          <a:xfrm>
            <a:off x="4000500" y="2750344"/>
            <a:ext cx="19288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IMMEDIATE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00500" y="2943225"/>
            <a:ext cx="19288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00500" y="3243263"/>
            <a:ext cx="19288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Complete and test the proof of concept within a focused development sprint.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57938" y="2571750"/>
            <a:ext cx="2214563" cy="1571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8" name="Shape 15"/>
          <p:cNvSpPr/>
          <p:nvPr/>
        </p:nvSpPr>
        <p:spPr>
          <a:xfrm>
            <a:off x="6357938" y="2571750"/>
            <a:ext cx="42863" cy="1571625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9" name="Text 16"/>
          <p:cNvSpPr/>
          <p:nvPr/>
        </p:nvSpPr>
        <p:spPr>
          <a:xfrm>
            <a:off x="6500813" y="2750344"/>
            <a:ext cx="19288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421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DECISION TARGET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00813" y="3050381"/>
            <a:ext cx="1928813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Use quality, partner feedback, and audience response to determine the Season One commitment.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2026-08-21T08:49:13Z</dcterms:created>
  <dcterms:modified xsi:type="dcterms:W3CDTF">2026-08-21T08:49:13Z</dcterms:modified>
</cp:coreProperties>
</file>